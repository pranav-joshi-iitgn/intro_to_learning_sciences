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fd6e687e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fd6e687e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fd6e687e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fd6e687e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fd6e687e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fd6e687e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fd6e687ef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fd6e687ef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fd6e687ef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fd6e687ef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fd6e687ef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fd6e687ef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fd6e687ef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fd6e687ef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fd6e687ef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fd6e687e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fd6e687ef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fd6e687ef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fd6e687ef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fd6e687ef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fd6e687ef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fd6e687ef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fd6e687ef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fd6e687ef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fd6e687e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fd6e687e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fd6e687e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fd6e687e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fd6e687e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fd6e687e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fd6e687e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fd6e687e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fd6e687e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9fd6e687e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fd6e687e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fd6e687e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Constructionist Design in Compiler Education: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Critical Evaluation of CS 327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Pranav Joshi &amp; Divya Gautam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Date: 2 November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533850" y="163775"/>
            <a:ext cx="8520600" cy="92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Goals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119550" y="1207550"/>
            <a:ext cx="9210900" cy="30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Develop actual competence in compiler design and implementation.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Build a sense of competence (confidence) to take on compiler-related tasks.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Foster intrinsic motivation and long-term interest in compiler systems.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Skills: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Programming language theory, compiler and interpreter design, VM understanding.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Teamwork, time management, and balancing usability with creativity.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214858" y="451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Context and Design Rationale</a:t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76275" y="2345225"/>
            <a:ext cx="8520600" cy="23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Course: CS 327 - Compiler Construction (CSE Elective).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Group: Students pursuing industry-oriented careers in software and systems.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ctrTitle"/>
          </p:nvPr>
        </p:nvSpPr>
        <p:spPr>
          <a:xfrm>
            <a:off x="387025" y="191868"/>
            <a:ext cx="8520600" cy="80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Design &amp; Features</a:t>
            </a:r>
            <a:endParaRPr/>
          </a:p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387025" y="993775"/>
            <a:ext cx="8520600" cy="15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Assessment Weightage: 20% exams, 30% assignments, 50% projects.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Lecture Design: Just-in-time introduction of theory during project work.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Scaffolding: One-on-one TA guidance in labs, adaptive feedback.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 title="Screenshot from 2025-11-03 22-07-55.png"/>
          <p:cNvPicPr preferRelativeResize="0"/>
          <p:nvPr/>
        </p:nvPicPr>
        <p:blipFill rotWithShape="1">
          <a:blip r:embed="rId3">
            <a:alphaModFix/>
          </a:blip>
          <a:srcRect b="39802" l="0" r="59006" t="20379"/>
          <a:stretch/>
        </p:blipFill>
        <p:spPr>
          <a:xfrm>
            <a:off x="242225" y="2039425"/>
            <a:ext cx="1610676" cy="118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7" title="stag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075" y="153100"/>
            <a:ext cx="8771424" cy="158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7" title="sample1.txt.png"/>
          <p:cNvPicPr preferRelativeResize="0"/>
          <p:nvPr/>
        </p:nvPicPr>
        <p:blipFill rotWithShape="1">
          <a:blip r:embed="rId5">
            <a:alphaModFix/>
          </a:blip>
          <a:srcRect b="0" l="56364" r="0" t="23884"/>
          <a:stretch/>
        </p:blipFill>
        <p:spPr>
          <a:xfrm>
            <a:off x="2080625" y="1966397"/>
            <a:ext cx="1971676" cy="105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 title="Screenshot from 2025-11-03 22-13-36.png"/>
          <p:cNvPicPr preferRelativeResize="0"/>
          <p:nvPr/>
        </p:nvPicPr>
        <p:blipFill rotWithShape="1">
          <a:blip r:embed="rId6">
            <a:alphaModFix/>
          </a:blip>
          <a:srcRect b="56894" l="11129" r="48808" t="0"/>
          <a:stretch/>
        </p:blipFill>
        <p:spPr>
          <a:xfrm>
            <a:off x="4213050" y="1977400"/>
            <a:ext cx="1442084" cy="118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 title="Screenshot from 2025-11-03 22-14-07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48925" y="1966400"/>
            <a:ext cx="939050" cy="242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Screenshot from 2025-11-03 22-08-26.png"/>
          <p:cNvPicPr preferRelativeResize="0"/>
          <p:nvPr/>
        </p:nvPicPr>
        <p:blipFill rotWithShape="1">
          <a:blip r:embed="rId8">
            <a:alphaModFix/>
          </a:blip>
          <a:srcRect b="0" l="0" r="55357" t="0"/>
          <a:stretch/>
        </p:blipFill>
        <p:spPr>
          <a:xfrm>
            <a:off x="6994250" y="1966400"/>
            <a:ext cx="2038149" cy="15837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754550" y="3732875"/>
            <a:ext cx="4206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2"/>
                </a:solidFill>
              </a:rPr>
              <a:t>Sequential Pipeline</a:t>
            </a:r>
            <a:endParaRPr b="1" sz="3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 title="sample1.tx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4150"/>
            <a:ext cx="8839199" cy="303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 title="Screenshot from 2025-11-03 22-07-55.png"/>
          <p:cNvPicPr preferRelativeResize="0"/>
          <p:nvPr/>
        </p:nvPicPr>
        <p:blipFill rotWithShape="1">
          <a:blip r:embed="rId4">
            <a:alphaModFix/>
          </a:blip>
          <a:srcRect b="0" l="0" r="32573" t="0"/>
          <a:stretch/>
        </p:blipFill>
        <p:spPr>
          <a:xfrm>
            <a:off x="152400" y="2014425"/>
            <a:ext cx="2690830" cy="303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 title="Screenshot from 2025-11-03 22-08-2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1250" y="3209650"/>
            <a:ext cx="6040351" cy="183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9" title="Screenshot from 2025-11-03 22-13-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851750" cy="295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 title="Screenshot from 2025-11-03 22-14-0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3700" y="72050"/>
            <a:ext cx="1871184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 title="Screenshot from 2025-11-03 22-14-4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6550" y="152400"/>
            <a:ext cx="2874749" cy="287474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/>
          <p:nvPr/>
        </p:nvSpPr>
        <p:spPr>
          <a:xfrm>
            <a:off x="369025" y="3299075"/>
            <a:ext cx="3418500" cy="42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Intermediate Code (MIPS32)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5638275" y="3232100"/>
            <a:ext cx="1317900" cy="42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Bytecode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0" title="OldAS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50" y="377700"/>
            <a:ext cx="4183575" cy="420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 txBox="1"/>
          <p:nvPr/>
        </p:nvSpPr>
        <p:spPr>
          <a:xfrm>
            <a:off x="4344300" y="317000"/>
            <a:ext cx="4640700" cy="40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Completely project based (Minimal Guidance)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Weak doubt </a:t>
            </a:r>
            <a:r>
              <a:rPr lang="en" sz="1800">
                <a:solidFill>
                  <a:schemeClr val="dk2"/>
                </a:solidFill>
              </a:rPr>
              <a:t>resolution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Cognitive</a:t>
            </a:r>
            <a:r>
              <a:rPr lang="en" sz="1800">
                <a:solidFill>
                  <a:schemeClr val="dk2"/>
                </a:solidFill>
              </a:rPr>
              <a:t> overload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Confusion and Anxiety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 title="OldA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200" y="238875"/>
            <a:ext cx="3853950" cy="466575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/>
        </p:nvSpPr>
        <p:spPr>
          <a:xfrm>
            <a:off x="4344300" y="317000"/>
            <a:ext cx="4640700" cy="40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Project + Lectures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Pros: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Allows for modeling through worked examples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Timely scaffolding through JIT concept introduction.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Cons: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Low one-to-one </a:t>
            </a:r>
            <a:r>
              <a:rPr lang="en" sz="1800">
                <a:solidFill>
                  <a:schemeClr val="dk2"/>
                </a:solidFill>
              </a:rPr>
              <a:t>monitoring and feedback due to variability in speed of teams.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Can’t assess student knowledge and adapt lectures continuously because of large student-teacher ratio.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OldAS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50" y="290225"/>
            <a:ext cx="4005725" cy="441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4250525" y="317000"/>
            <a:ext cx="4734600" cy="40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Guided constructionism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Pros: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Allows for articulation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Better monitoring and thus JIT concept introduction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Better one-on-one feedback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Cons: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No way to assess actual knowledge gained (AI, plagiarism, etc.)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No way to assess teamwork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Freeloader problem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3" title="OldAS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076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3"/>
          <p:cNvSpPr txBox="1"/>
          <p:nvPr/>
        </p:nvSpPr>
        <p:spPr>
          <a:xfrm>
            <a:off x="4277325" y="158550"/>
            <a:ext cx="4734600" cy="48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Guided constructionism + Exam + Mark-Split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Pros: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Respect and belonging is also measured through Mark-split method.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Exams provide extra incentive to study (even if freeloading in project).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Cons: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Exam practice and project practice misalignment can cause overload, confusion, and dis-identification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Lack of continuous assessment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No structured sequencing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Still lacking a way to measure practical skills due to </a:t>
            </a:r>
            <a:r>
              <a:rPr lang="en" sz="1800">
                <a:solidFill>
                  <a:schemeClr val="dk2"/>
                </a:solidFill>
              </a:rPr>
              <a:t>underemployed</a:t>
            </a:r>
            <a:r>
              <a:rPr lang="en" sz="1800">
                <a:solidFill>
                  <a:schemeClr val="dk2"/>
                </a:solidFill>
              </a:rPr>
              <a:t> worker problem.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4" title="OldAS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116575" cy="489792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4"/>
          <p:cNvSpPr txBox="1"/>
          <p:nvPr/>
        </p:nvSpPr>
        <p:spPr>
          <a:xfrm>
            <a:off x="4344300" y="79275"/>
            <a:ext cx="4640700" cy="4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Guided construction with cont. assessment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Pros: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Respect and belonging is also measured through Mark-split method.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Exams provide extra incentive to study (even if freeloading in project).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Cons: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Exam practice and project practice misalignment can cause overload, confusion, and dis-identification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Lack of continuous assessment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No structured sequencing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Still lacking a way to measure practical skills due to underemployed worker problem.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5" title="OldA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795126" cy="508484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5"/>
          <p:cNvSpPr txBox="1"/>
          <p:nvPr/>
        </p:nvSpPr>
        <p:spPr>
          <a:xfrm>
            <a:off x="4004150" y="3379450"/>
            <a:ext cx="2976600" cy="335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ctrTitle"/>
          </p:nvPr>
        </p:nvSpPr>
        <p:spPr>
          <a:xfrm>
            <a:off x="311700" y="249875"/>
            <a:ext cx="8520600" cy="91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Pedagogical Models Used</a:t>
            </a:r>
            <a:endParaRPr/>
          </a:p>
        </p:txBody>
      </p:sp>
      <p:sp>
        <p:nvSpPr>
          <p:cNvPr id="142" name="Google Shape;142;p26"/>
          <p:cNvSpPr txBox="1"/>
          <p:nvPr>
            <p:ph idx="1" type="subTitle"/>
          </p:nvPr>
        </p:nvSpPr>
        <p:spPr>
          <a:xfrm>
            <a:off x="311700" y="1268725"/>
            <a:ext cx="8520600" cy="3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Constructionism (Papert): Learning through creating meaningful artifacts.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3060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Knowledge construction via hands-on compiler building.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Cognitive Apprenticeship (Collins et al.): 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3060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Guided development of complex skills.</a:t>
            </a:r>
            <a:endParaRPr/>
          </a:p>
          <a:p>
            <a:pPr indent="-353060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Modeling, scaffolding, articulation, reflection through labs.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Cultural Learning Pathways: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3060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Builds identity, belonging, and long-term professional motivation.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ctrTitle"/>
          </p:nvPr>
        </p:nvSpPr>
        <p:spPr>
          <a:xfrm>
            <a:off x="311700" y="292900"/>
            <a:ext cx="8520600" cy="13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Assessment of Theory Appropriateness</a:t>
            </a:r>
            <a:endParaRPr/>
          </a:p>
        </p:txBody>
      </p:sp>
      <p:sp>
        <p:nvSpPr>
          <p:cNvPr id="148" name="Google Shape;148;p27"/>
          <p:cNvSpPr txBox="1"/>
          <p:nvPr>
            <p:ph idx="1" type="subTitle"/>
          </p:nvPr>
        </p:nvSpPr>
        <p:spPr>
          <a:xfrm>
            <a:off x="311700" y="1681025"/>
            <a:ext cx="8520600" cy="3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Constructionism: Builds ownership, engagement, and identity.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Cognitive Apprenticeship: Ensures guided competence and skill development.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Why effective: Aligns learning process with real-world problem solving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ctrTitle"/>
          </p:nvPr>
        </p:nvSpPr>
        <p:spPr>
          <a:xfrm>
            <a:off x="236375" y="88475"/>
            <a:ext cx="8520600" cy="166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of Learning Design Merits:</a:t>
            </a:r>
            <a:endParaRPr/>
          </a:p>
        </p:txBody>
      </p:sp>
      <p:sp>
        <p:nvSpPr>
          <p:cNvPr id="154" name="Google Shape;154;p28"/>
          <p:cNvSpPr txBox="1"/>
          <p:nvPr>
            <p:ph idx="1" type="subTitle"/>
          </p:nvPr>
        </p:nvSpPr>
        <p:spPr>
          <a:xfrm>
            <a:off x="311700" y="1896225"/>
            <a:ext cx="8520600" cy="32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Industry-level relevance without abstraction overload.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Just-in-time knowledge ensures meaning and motivation.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Strong scaffolding and peer learning structure.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Fair evaluation through mark-splitting mechanism.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Design Gaps: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Underemployed Worker Problem: Unequal participation among team members.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Lack of Breadth: Focused depth but limited theoretical diversity (e.g., parsing methods).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ctrTitle"/>
          </p:nvPr>
        </p:nvSpPr>
        <p:spPr>
          <a:xfrm>
            <a:off x="164350" y="122125"/>
            <a:ext cx="4019100" cy="62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80"/>
              <a:t>Redesign Features</a:t>
            </a:r>
            <a:endParaRPr sz="3180"/>
          </a:p>
        </p:txBody>
      </p:sp>
      <p:sp>
        <p:nvSpPr>
          <p:cNvPr id="160" name="Google Shape;160;p29"/>
          <p:cNvSpPr txBox="1"/>
          <p:nvPr>
            <p:ph idx="1" type="subTitle"/>
          </p:nvPr>
        </p:nvSpPr>
        <p:spPr>
          <a:xfrm>
            <a:off x="164350" y="745525"/>
            <a:ext cx="4461300" cy="42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Mentorship Pairing: Pair old-timers and newcomers for inclusive learning.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Assignment Alignment: Time assignments with project stages for instrumentality.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Distributed Implementation: Different compiler stages for each member to ensure equity and breadth.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Optional Readings (See Also): Expand breadth without cognitive overload.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Expected Outcomes:</a:t>
            </a:r>
            <a:endParaRPr/>
          </a:p>
          <a:p>
            <a:pPr indent="-33972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Enhanced inclusivity</a:t>
            </a:r>
            <a:endParaRPr/>
          </a:p>
          <a:p>
            <a:pPr indent="-33972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b</a:t>
            </a:r>
            <a:r>
              <a:rPr lang="en"/>
              <a:t>roader exposure</a:t>
            </a:r>
            <a:endParaRPr/>
          </a:p>
          <a:p>
            <a:pPr indent="-33972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stronger collaboration</a:t>
            </a:r>
            <a:endParaRPr/>
          </a:p>
          <a:p>
            <a:pPr indent="-33972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reflective articulation.</a:t>
            </a:r>
            <a:endParaRPr/>
          </a:p>
        </p:txBody>
      </p:sp>
      <p:pic>
        <p:nvPicPr>
          <p:cNvPr id="161" name="Google Shape;161;p29" title="NewA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8250" y="40050"/>
            <a:ext cx="4594302" cy="5103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ctrTitle"/>
          </p:nvPr>
        </p:nvSpPr>
        <p:spPr>
          <a:xfrm>
            <a:off x="268650" y="131500"/>
            <a:ext cx="8520600" cy="97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67" name="Google Shape;167;p30"/>
          <p:cNvSpPr txBox="1"/>
          <p:nvPr>
            <p:ph idx="1" type="subTitle"/>
          </p:nvPr>
        </p:nvSpPr>
        <p:spPr>
          <a:xfrm>
            <a:off x="311700" y="1444300"/>
            <a:ext cx="8520600" cy="36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The course effectively used constructionist and apprenticeship models to foster competence, confidence, and identity.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Redesign features aim to bridge inclusion and breadth gaps.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Future iterations can balance depth, diversity, and equitable participation while maintaining authenticity.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</a:t>
            </a:r>
            <a:r>
              <a:rPr lang="en"/>
              <a:t>ou</a:t>
            </a:r>
            <a:endParaRPr/>
          </a:p>
        </p:txBody>
      </p:sp>
      <p:sp>
        <p:nvSpPr>
          <p:cNvPr id="173" name="Google Shape;173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please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